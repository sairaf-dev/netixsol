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4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4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0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0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1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6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5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91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6400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1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8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48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1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SRE Incident Investigation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Capstone Presentation</a:t>
            </a:r>
          </a:p>
          <a:p>
            <a:r>
              <a:rPr dirty="0"/>
              <a:t>AI-Powered Investigation &amp; Safe Remediation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Business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0872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The Problem</a:t>
            </a:r>
          </a:p>
          <a:p>
            <a:pPr marL="0" indent="0">
              <a:buNone/>
            </a:pPr>
            <a:r>
              <a:rPr sz="1800" dirty="0" smtClean="0"/>
              <a:t>• Fragmented </a:t>
            </a:r>
            <a:r>
              <a:rPr sz="1800" dirty="0"/>
              <a:t>Data: SRE teams manually investigate incidents across disconnected sources.</a:t>
            </a:r>
          </a:p>
          <a:p>
            <a:pPr marL="0" indent="0">
              <a:buNone/>
            </a:pPr>
            <a:r>
              <a:rPr sz="1800" dirty="0"/>
              <a:t>• Manual Correlation: Logs, infrastructure metrics, and code changes must be pieced together.</a:t>
            </a:r>
          </a:p>
          <a:p>
            <a:pPr marL="0" indent="0">
              <a:buNone/>
            </a:pPr>
            <a:r>
              <a:rPr sz="1800" dirty="0"/>
              <a:t>• Inefficiency &amp; Risk: Manual investigations are slow; AI without safeguards adds operational risk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Our Goal</a:t>
            </a:r>
          </a:p>
          <a:p>
            <a:pPr marL="0" indent="0">
              <a:buNone/>
            </a:pPr>
            <a:r>
              <a:rPr sz="1800" dirty="0"/>
              <a:t>• Build an AI-powered SRE agent that investigates rapidly using real evidence.</a:t>
            </a:r>
          </a:p>
          <a:p>
            <a:pPr marL="0" indent="0">
              <a:buNone/>
            </a:pPr>
            <a:r>
              <a:rPr sz="1800" dirty="0"/>
              <a:t>• Keep all consequential actions firmly under human control.</a:t>
            </a:r>
          </a:p>
          <a:p>
            <a:pPr marL="0" indent="0">
              <a:buNone/>
            </a:pPr>
            <a:r>
              <a:rPr sz="1800" dirty="0"/>
              <a:t>• Key Benefit: Faster investigations + evidence-based decisions + guaranteed safety.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990"/>
            <a:ext cx="8229600" cy="1143000"/>
          </a:xfrm>
        </p:spPr>
        <p:txBody>
          <a:bodyPr/>
          <a:lstStyle/>
          <a:p>
            <a:r>
              <a:rPr dirty="0"/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557" y="1307792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Inputs Received</a:t>
            </a:r>
          </a:p>
          <a:p>
            <a:pPr marL="0" indent="0">
              <a:buNone/>
            </a:pPr>
            <a:r>
              <a:rPr sz="1800" dirty="0"/>
              <a:t>• Incident ID, Description, Service Name, and Repository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Investigation Sources</a:t>
            </a:r>
          </a:p>
          <a:p>
            <a:pPr marL="0" indent="0">
              <a:buNone/>
            </a:pPr>
            <a:r>
              <a:rPr sz="1800" dirty="0"/>
              <a:t>• Server Logs: Local file parsing.</a:t>
            </a:r>
          </a:p>
          <a:p>
            <a:pPr marL="0" indent="0">
              <a:buNone/>
            </a:pPr>
            <a:r>
              <a:rPr sz="1800" dirty="0"/>
              <a:t>• SQLite Metrics: Database queries (CPU, Memory, Connections).</a:t>
            </a:r>
          </a:p>
          <a:p>
            <a:pPr marL="0" indent="0">
              <a:buNone/>
            </a:pPr>
            <a:r>
              <a:rPr sz="1800" dirty="0"/>
              <a:t>• GitHub Commits: External API calls for recent code changes.</a:t>
            </a:r>
          </a:p>
          <a:p>
            <a:pPr marL="0" indent="0">
              <a:buNone/>
            </a:pPr>
            <a:r>
              <a:rPr sz="1800" dirty="0"/>
              <a:t>• LLM Reasoning: Contextual analysis of gathered evidence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 smtClean="0"/>
              <a:t>Agent Outputs</a:t>
            </a:r>
          </a:p>
          <a:p>
            <a:pPr marL="0" indent="0">
              <a:buNone/>
            </a:pPr>
            <a:r>
              <a:rPr sz="1800" dirty="0" smtClean="0"/>
              <a:t>• Curated Evidence &amp; Root-Cause Analysis (RCA).</a:t>
            </a:r>
          </a:p>
          <a:p>
            <a:pPr marL="0" indent="0">
              <a:buNone/>
            </a:pPr>
            <a:r>
              <a:rPr sz="1800" dirty="0" smtClean="0"/>
              <a:t>• </a:t>
            </a:r>
            <a:r>
              <a:rPr sz="1800" dirty="0"/>
              <a:t>Recommended Action &amp; HITL (Human-in-the-Loop) Approval Status.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00154"/>
            <a:ext cx="7429499" cy="1478570"/>
          </a:xfrm>
        </p:spPr>
        <p:txBody>
          <a:bodyPr/>
          <a:lstStyle/>
          <a:p>
            <a:r>
              <a:rPr dirty="0"/>
              <a:t>System 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890" y="1594394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1. User / SRE triggers </a:t>
            </a:r>
            <a:r>
              <a:rPr sz="1800" dirty="0" err="1"/>
              <a:t>FastAPI</a:t>
            </a:r>
            <a:r>
              <a:rPr sz="1800" dirty="0"/>
              <a:t> endpoint.</a:t>
            </a:r>
          </a:p>
          <a:p>
            <a:pPr marL="0" indent="0">
              <a:buNone/>
            </a:pPr>
            <a:r>
              <a:rPr sz="1800" dirty="0"/>
              <a:t>2. LangGraph Workflow initiates </a:t>
            </a:r>
            <a:r>
              <a:rPr sz="1800" dirty="0" err="1"/>
              <a:t>stateful</a:t>
            </a:r>
            <a:r>
              <a:rPr sz="1800" dirty="0"/>
              <a:t> investigation.</a:t>
            </a:r>
          </a:p>
          <a:p>
            <a:pPr marL="0" indent="0">
              <a:buNone/>
            </a:pPr>
            <a:r>
              <a:rPr sz="1800" dirty="0"/>
              <a:t>3. Tools Gather Evidence:</a:t>
            </a:r>
          </a:p>
          <a:p>
            <a:pPr marL="0" indent="0">
              <a:buNone/>
            </a:pPr>
            <a:r>
              <a:rPr sz="1800" dirty="0"/>
              <a:t>   • Server Logs</a:t>
            </a:r>
          </a:p>
          <a:p>
            <a:pPr marL="0" indent="0">
              <a:buNone/>
            </a:pPr>
            <a:r>
              <a:rPr sz="1800" dirty="0"/>
              <a:t>   • SQLite Metrics</a:t>
            </a:r>
          </a:p>
          <a:p>
            <a:pPr marL="0" indent="0">
              <a:buNone/>
            </a:pPr>
            <a:r>
              <a:rPr sz="1800" dirty="0"/>
              <a:t>   • GitHub API</a:t>
            </a:r>
          </a:p>
          <a:p>
            <a:pPr marL="0" indent="0">
              <a:buNone/>
            </a:pPr>
            <a:r>
              <a:rPr sz="1800" dirty="0"/>
              <a:t>4. LLM analyzes evidence and generates Structured RCA.</a:t>
            </a:r>
          </a:p>
          <a:p>
            <a:pPr marL="0" indent="0">
              <a:buNone/>
            </a:pPr>
            <a:r>
              <a:rPr sz="1800" dirty="0"/>
              <a:t>5. Safety Gate intercepts workflow.</a:t>
            </a:r>
          </a:p>
          <a:p>
            <a:pPr marL="0" indent="0">
              <a:buNone/>
            </a:pPr>
            <a:r>
              <a:rPr sz="1800" dirty="0"/>
              <a:t>6. Human Approval (HITL) Checkpoint:</a:t>
            </a:r>
          </a:p>
          <a:p>
            <a:pPr marL="0" indent="0">
              <a:buNone/>
            </a:pPr>
            <a:r>
              <a:rPr sz="1800" dirty="0"/>
              <a:t>   • Reject ➔ End Workflow safely.</a:t>
            </a:r>
          </a:p>
          <a:p>
            <a:pPr marL="0" indent="0">
              <a:buNone/>
            </a:pPr>
            <a:r>
              <a:rPr sz="1800" dirty="0"/>
              <a:t>   • Approve ➔ Execute Controlled Simulation/Remediation.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890" y="250028"/>
            <a:ext cx="7429499" cy="1478570"/>
          </a:xfrm>
        </p:spPr>
        <p:txBody>
          <a:bodyPr/>
          <a:lstStyle/>
          <a:p>
            <a:r>
              <a:rPr dirty="0"/>
              <a:t>Why LangGraph?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663" y="1280496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Our Requirements</a:t>
            </a:r>
          </a:p>
          <a:p>
            <a:pPr marL="0" indent="0">
              <a:buNone/>
            </a:pPr>
            <a:r>
              <a:rPr sz="1800" dirty="0"/>
              <a:t>• The problem is </a:t>
            </a:r>
            <a:r>
              <a:rPr sz="1800" dirty="0" err="1"/>
              <a:t>stateful</a:t>
            </a:r>
            <a:r>
              <a:rPr sz="1800" dirty="0"/>
              <a:t> and highly control-heavy.</a:t>
            </a:r>
          </a:p>
          <a:p>
            <a:pPr marL="0" indent="0">
              <a:buNone/>
            </a:pPr>
            <a:r>
              <a:rPr sz="1800" dirty="0"/>
              <a:t>• Investigation requires sequential, distinct stages with explicit state transitions.</a:t>
            </a:r>
          </a:p>
          <a:p>
            <a:pPr marL="0" indent="0">
              <a:buNone/>
            </a:pPr>
            <a:r>
              <a:rPr sz="1800" dirty="0"/>
              <a:t>• We require strict conditional logic and un-</a:t>
            </a:r>
            <a:r>
              <a:rPr sz="1800" dirty="0" err="1"/>
              <a:t>bypassable</a:t>
            </a:r>
            <a:r>
              <a:rPr sz="1800" dirty="0"/>
              <a:t> safety gates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Why Not CrewAI?</a:t>
            </a:r>
          </a:p>
          <a:p>
            <a:pPr marL="0" indent="0">
              <a:buNone/>
            </a:pPr>
            <a:r>
              <a:rPr sz="1800" dirty="0"/>
              <a:t>• CrewAI excels at multi-agent conversational collaboration.</a:t>
            </a:r>
          </a:p>
          <a:p>
            <a:pPr marL="0" indent="0">
              <a:buNone/>
            </a:pPr>
            <a:r>
              <a:rPr sz="1800" dirty="0"/>
              <a:t>• Our primary requirement is rigid workflow control and deterministic safety, not conversation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Core Design Principle</a:t>
            </a:r>
          </a:p>
          <a:p>
            <a:pPr marL="0" indent="0">
              <a:buNone/>
            </a:pPr>
            <a:r>
              <a:rPr sz="1800" dirty="0"/>
              <a:t>• LLM = Reasoning Engine</a:t>
            </a:r>
          </a:p>
          <a:p>
            <a:pPr marL="0" indent="0">
              <a:buNone/>
            </a:pPr>
            <a:r>
              <a:rPr sz="1800" dirty="0"/>
              <a:t>• Application Logic = Control &amp; Safety Engine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Tools, Safety &amp; HITL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0872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Safety Mechanisms</a:t>
            </a:r>
          </a:p>
          <a:p>
            <a:pPr marL="0" indent="0">
              <a:buNone/>
            </a:pPr>
            <a:r>
              <a:rPr sz="1800" dirty="0"/>
              <a:t>• Strict input validation &amp; parameterized SQL.</a:t>
            </a:r>
          </a:p>
          <a:p>
            <a:pPr marL="0" indent="0">
              <a:buNone/>
            </a:pPr>
            <a:r>
              <a:rPr sz="1800" dirty="0"/>
              <a:t>• API timeout handling &amp; tool retry/fallback logic.</a:t>
            </a:r>
          </a:p>
          <a:p>
            <a:pPr marL="0" indent="0">
              <a:buNone/>
            </a:pPr>
            <a:r>
              <a:rPr sz="1800" dirty="0"/>
              <a:t>• Deterministic Safety Gates &amp; mandatory Human Approval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HITL Flow</a:t>
            </a:r>
          </a:p>
          <a:p>
            <a:pPr marL="0" indent="0">
              <a:buNone/>
            </a:pPr>
            <a:r>
              <a:rPr sz="1800" dirty="0"/>
              <a:t>• Agent Investigates ➔ Generates Recommendation ➔ Safety Check.</a:t>
            </a:r>
          </a:p>
          <a:p>
            <a:pPr marL="0" indent="0">
              <a:buNone/>
            </a:pPr>
            <a:r>
              <a:rPr sz="1800" dirty="0"/>
              <a:t>• Pauses for Human Approval.</a:t>
            </a:r>
          </a:p>
          <a:p>
            <a:pPr marL="0" indent="0">
              <a:buNone/>
            </a:pPr>
            <a:r>
              <a:rPr sz="1800" dirty="0"/>
              <a:t>• The agent CANNOT independently execute a consequential action under any circumstances.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50029"/>
            <a:ext cx="7429499" cy="1478570"/>
          </a:xfrm>
        </p:spPr>
        <p:txBody>
          <a:bodyPr/>
          <a:lstStyle/>
          <a:p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889" y="1553451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13 </a:t>
            </a:r>
            <a:r>
              <a:rPr sz="1800" b="1" dirty="0" smtClean="0"/>
              <a:t>Test Cases</a:t>
            </a:r>
            <a:endParaRPr sz="1800" b="1" dirty="0"/>
          </a:p>
          <a:p>
            <a:pPr marL="0" indent="0">
              <a:buNone/>
            </a:pPr>
            <a:r>
              <a:rPr sz="1800" dirty="0"/>
              <a:t>• Overall Score: 129/130 (99.23%)</a:t>
            </a:r>
          </a:p>
          <a:p>
            <a:pPr marL="0" indent="0">
              <a:buNone/>
            </a:pPr>
            <a:r>
              <a:rPr sz="1800" dirty="0"/>
              <a:t>• Release Gate: PASS (≥90%)</a:t>
            </a:r>
          </a:p>
          <a:p>
            <a:pPr marL="0" indent="0">
              <a:buNone/>
            </a:pPr>
            <a:r>
              <a:rPr sz="1800" dirty="0"/>
              <a:t>• Safety &amp; HITL Failures: 0</a:t>
            </a:r>
          </a:p>
          <a:p>
            <a:pPr marL="0" indent="0">
              <a:buNone/>
            </a:pPr>
            <a:r>
              <a:rPr sz="1800" dirty="0"/>
              <a:t>• Evidence &amp; Robustness: 13/13</a:t>
            </a:r>
          </a:p>
          <a:p>
            <a:pPr marL="0" indent="0">
              <a:buNone/>
            </a:pPr>
            <a:r>
              <a:rPr sz="1800" dirty="0"/>
              <a:t>• </a:t>
            </a:r>
            <a:r>
              <a:rPr sz="1800" dirty="0" err="1"/>
              <a:t>Avg</a:t>
            </a:r>
            <a:r>
              <a:rPr sz="1800" dirty="0"/>
              <a:t> E2E Latency: 2.403s (P95: 3.462s</a:t>
            </a:r>
            <a:r>
              <a:rPr sz="1800" dirty="0" smtClean="0"/>
              <a:t>)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Test Coverage</a:t>
            </a:r>
          </a:p>
          <a:p>
            <a:pPr marL="0" indent="0">
              <a:buNone/>
            </a:pPr>
            <a:r>
              <a:rPr sz="1800" dirty="0"/>
              <a:t>• Normal, Unknown, Adversarial, Invalid, Large Input, Unicode, HITL Rejection, Unsafe Remediation.</a:t>
            </a:r>
          </a:p>
          <a:p>
            <a:pPr marL="0" indent="0">
              <a:buNone/>
            </a:pPr>
            <a:r>
              <a:rPr sz="1800" dirty="0"/>
              <a:t>• Main Failure: INC-011 (Unknown Service) missed explicit identification (Score: 9/10).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12759"/>
            <a:ext cx="74294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Current Limitations</a:t>
            </a:r>
          </a:p>
          <a:p>
            <a:pPr marL="0" indent="0">
              <a:buNone/>
            </a:pPr>
            <a:r>
              <a:rPr sz="1800" dirty="0"/>
              <a:t>• Local SQLite/log sources are for capstone scope; not ideal for production.</a:t>
            </a:r>
          </a:p>
          <a:p>
            <a:pPr marL="0" indent="0">
              <a:buNone/>
            </a:pPr>
            <a:r>
              <a:rPr sz="1800" dirty="0"/>
              <a:t>• Cost telemetry available for only 7/13 evaluation cases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Next Steps: Scaling &amp; Guardrails</a:t>
            </a:r>
          </a:p>
          <a:p>
            <a:pPr marL="0" indent="0">
              <a:buNone/>
            </a:pPr>
            <a:r>
              <a:rPr sz="1800" dirty="0"/>
              <a:t>• Integrate production observability platforms.</a:t>
            </a:r>
          </a:p>
          <a:p>
            <a:pPr marL="0" indent="0">
              <a:buNone/>
            </a:pPr>
            <a:r>
              <a:rPr sz="1800" dirty="0"/>
              <a:t>• Implement strict tool </a:t>
            </a:r>
            <a:r>
              <a:rPr sz="1800" dirty="0" err="1"/>
              <a:t>allowlists</a:t>
            </a:r>
            <a:r>
              <a:rPr sz="1800" dirty="0"/>
              <a:t> and fail-closed safety checks.</a:t>
            </a:r>
          </a:p>
          <a:p>
            <a:pPr marL="0" indent="0">
              <a:buNone/>
            </a:pPr>
            <a:r>
              <a:rPr sz="1800" dirty="0"/>
              <a:t>• Persist workflow state for concurrent incident handling</a:t>
            </a:r>
            <a:r>
              <a:rPr sz="1800" dirty="0" smtClean="0"/>
              <a:t>.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Next Steps: Human Oversight</a:t>
            </a:r>
          </a:p>
          <a:p>
            <a:pPr marL="0" indent="0">
              <a:buNone/>
            </a:pPr>
            <a:r>
              <a:rPr sz="1800" dirty="0"/>
              <a:t>• Maintain HITL for consequential actions.</a:t>
            </a:r>
          </a:p>
          <a:p>
            <a:pPr marL="0" indent="0">
              <a:buNone/>
            </a:pPr>
            <a:r>
              <a:rPr sz="1800" dirty="0"/>
              <a:t>• Record approval identity and timestamps for compliance.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</TotalTime>
  <Words>578</Words>
  <Application>Microsoft Office PowerPoint</Application>
  <PresentationFormat>On-screen Show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Tw Cen MT</vt:lpstr>
      <vt:lpstr>Circuit</vt:lpstr>
      <vt:lpstr>SRE Incident Investigation Agent</vt:lpstr>
      <vt:lpstr>Problem &amp; Business Goal</vt:lpstr>
      <vt:lpstr>What We Built</vt:lpstr>
      <vt:lpstr>System Architecture &amp; Flow</vt:lpstr>
      <vt:lpstr>Why LangGraph?</vt:lpstr>
      <vt:lpstr>Tools, Safety &amp; HITL</vt:lpstr>
      <vt:lpstr>Evaluation Results</vt:lpstr>
      <vt:lpstr>Limitations &amp; Next Steps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SRE Incident Investigation Agent</dc:title>
  <dc:subject/>
  <dc:creator>Star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2026-08-17T01:05:25Z</dcterms:modified>
  <cp:category/>
</cp:coreProperties>
</file>