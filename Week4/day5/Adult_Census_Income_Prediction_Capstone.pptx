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926080" cy="36576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MACHINE LEARNING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t>Adult Census Income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BD5E1"/>
                </a:solidFill>
                <a:latin typeface="Calibri"/>
              </a:defRPr>
            </a:pPr>
            <a:r>
              <a:t>Presented by: Saira Fatima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728655" cy="2011680"/>
          </a:xfrm>
          <a:prstGeom prst="roundRect">
            <a:avLst/>
          </a:prstGeom>
          <a:solidFill>
            <a:srgbClr val="2A43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023360"/>
            <a:ext cx="101800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A896"/>
                </a:solidFill>
                <a:latin typeface="Arial"/>
              </a:defRPr>
            </a:pPr>
            <a:r>
              <a:t>PROJECT OBJECTIVE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Predict whether an individual's annual income exceeds $50,000 using machine learning while maximizing prediction precision to minimize costly false positive predictions.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Arial"/>
              </a:defRPr>
            </a:pPr>
            <a:r>
              <a:t>BUSINESS PROBLEM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Arial"/>
              </a:defRPr>
            </a:pPr>
            <a:r>
              <a:t>Aligning ML Objectives with 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Focusing on precision to optimize resource allocation and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Adult Census Income Prediction | Capstone Presentation</a:t>
            </a:r>
          </a:p>
          <a:p>
            <a:pPr algn="r">
              <a:defRPr sz="900">
                <a:solidFill>
                  <a:srgbClr val="6C757D"/>
                </a:solidFill>
                <a:latin typeface="Calibri"/>
              </a:defRPr>
            </a:pPr>
            <a:r>
              <a:t>Slide 2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1F3F5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</a:defRPr>
            </a:pPr>
            <a:r>
              <a:t>Business Goal &amp; Applications</a:t>
            </a:r>
          </a:p>
          <a:p>
            <a:r>
              <a:t/>
            </a:r>
            <a:br/>
            <a:r>
              <a:t>Predict individuals likely to earn more than $50K/year to support key commercial initiatives:</a:t>
            </a:r>
          </a:p>
          <a:p>
            <a:r>
              <a:t/>
            </a:r>
            <a:br/>
            <a:r>
              <a:t>• Targeted Marketing: </a:t>
            </a:r>
            <a:r>
              <a:rPr b="0">
                <a:solidFill>
                  <a:srgbClr val="212529"/>
                </a:solidFill>
              </a:rPr>
              <a:t>Focus advertising spend on high-propensity, high-income prospects.</a:t>
            </a:r>
          </a:p>
          <a:p>
            <a:r>
              <a:t/>
            </a:r>
            <a:br/>
            <a:r>
              <a:t>• Customer Segmentation: </a:t>
            </a:r>
            <a:r>
              <a:rPr b="0">
                <a:solidFill>
                  <a:srgbClr val="212529"/>
                </a:solidFill>
              </a:rPr>
              <a:t>Categorize user profiles for tailored service tier offerings.</a:t>
            </a:r>
          </a:p>
          <a:p>
            <a:r>
              <a:t/>
            </a:r>
            <a:br/>
            <a:r>
              <a:t>• Financial Recommendations: </a:t>
            </a:r>
            <a:r>
              <a:rPr b="0">
                <a:solidFill>
                  <a:srgbClr val="212529"/>
                </a:solidFill>
              </a:rPr>
              <a:t>Offer premium financial products (e.g., wealth management, premium credit lines).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45920"/>
            <a:ext cx="5212080" cy="4480560"/>
          </a:xfrm>
          <a:prstGeom prst="roundRect">
            <a:avLst/>
          </a:prstGeom>
          <a:solidFill>
            <a:srgbClr val="F1F3F5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674198"/>
            <a:ext cx="46634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</a:defRPr>
            </a:pPr>
            <a:r>
              <a:rPr dirty="0"/>
              <a:t>Primary Objective: Maximize Precision</a:t>
            </a:r>
          </a:p>
          <a:p>
            <a:r>
              <a:rPr dirty="0"/>
              <a:t/>
            </a:r>
            <a:br>
              <a:rPr dirty="0"/>
            </a:br>
            <a:r>
              <a:rPr dirty="0"/>
              <a:t>Why Precision is the Critical Metric:</a:t>
            </a:r>
          </a:p>
          <a:p>
            <a:r>
              <a:rPr dirty="0"/>
              <a:t/>
            </a:r>
            <a:br>
              <a:rPr dirty="0"/>
            </a:br>
            <a:r>
              <a:rPr dirty="0"/>
              <a:t>✔ Eliminating Costly False Positives: Misclassifying a low-income individual as high-income results in wasted promotional budgets and higher customer acquisition costs.</a:t>
            </a:r>
          </a:p>
          <a:p>
            <a:r>
              <a:rPr dirty="0"/>
              <a:t/>
            </a:r>
            <a:br>
              <a:rPr dirty="0"/>
            </a:br>
            <a:r>
              <a:rPr dirty="0"/>
              <a:t>✔ Budget Efficiency: Ensuring that every marketing dollar spent reaches a true high-income candidate.</a:t>
            </a:r>
          </a:p>
          <a:p>
            <a:r>
              <a:rPr dirty="0"/>
              <a:t/>
            </a:r>
            <a:br>
              <a:rPr dirty="0"/>
            </a:br>
            <a:r>
              <a:rPr dirty="0"/>
              <a:t>✔ Brand &amp; Trust Alignment: Delivering relevant financial product offers to qualified recipients avoids low engagement or customer friction.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Arial"/>
              </a:defRPr>
            </a:pPr>
            <a:r>
              <a:t>DATA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Arial"/>
              </a:defRPr>
            </a:pPr>
            <a:r>
              <a:t>UCI Adult Census Dataset &amp; End-to-End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Robust dataset structure and standardized machine learning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Adult Census Income Prediction | Capstone Presentation</a:t>
            </a:r>
          </a:p>
          <a:p>
            <a:pPr algn="r">
              <a:defRPr sz="900">
                <a:solidFill>
                  <a:srgbClr val="6C757D"/>
                </a:solidFill>
                <a:latin typeface="Calibri"/>
              </a:defRPr>
            </a:pPr>
            <a:r>
              <a:t>Slide 3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28090"/>
                </a:solidFill>
              </a:defRPr>
            </a:pPr>
            <a:r>
              <a:t>48,842</a:t>
            </a:r>
          </a:p>
          <a:p>
            <a:pPr algn="ctr">
              <a:defRPr sz="1100" b="1">
                <a:solidFill>
                  <a:srgbClr val="1B365D"/>
                </a:solidFill>
              </a:defRPr>
            </a:pPr>
            <a:r>
              <a:t>Total Records</a:t>
            </a:r>
          </a:p>
          <a:p>
            <a:pPr algn="ctr">
              <a:defRPr sz="900">
                <a:solidFill>
                  <a:srgbClr val="6C757D"/>
                </a:solidFill>
              </a:defRPr>
            </a:pPr>
            <a:r>
              <a:t>UCI Adult Census 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47872" y="1691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28090"/>
                </a:solidFill>
              </a:defRPr>
            </a:pPr>
            <a:r>
              <a:t>14</a:t>
            </a:r>
          </a:p>
          <a:p>
            <a:pPr algn="ctr">
              <a:defRPr sz="1100" b="1">
                <a:solidFill>
                  <a:srgbClr val="1B365D"/>
                </a:solidFill>
              </a:defRPr>
            </a:pPr>
            <a:r>
              <a:t>Original Features</a:t>
            </a:r>
          </a:p>
          <a:p>
            <a:pPr algn="ctr">
              <a:defRPr sz="900">
                <a:solidFill>
                  <a:srgbClr val="6C757D"/>
                </a:solidFill>
              </a:defRPr>
            </a:pPr>
            <a:r>
              <a:t>Demographic &amp; Financial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72784" y="1691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28090"/>
                </a:solidFill>
              </a:defRPr>
            </a:pPr>
            <a:r>
              <a:t>Binary</a:t>
            </a:r>
          </a:p>
          <a:p>
            <a:pPr algn="ctr">
              <a:defRPr sz="1100" b="1">
                <a:solidFill>
                  <a:srgbClr val="1B365D"/>
                </a:solidFill>
              </a:defRPr>
            </a:pPr>
            <a:r>
              <a:t>Target Variable</a:t>
            </a:r>
          </a:p>
          <a:p>
            <a:pPr algn="ctr">
              <a:defRPr sz="900">
                <a:solidFill>
                  <a:srgbClr val="6C757D"/>
                </a:solidFill>
              </a:defRPr>
            </a:pPr>
            <a:r>
              <a:t>≤50K vs &gt;50K Income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6459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97696" y="1691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28090"/>
                </a:solidFill>
              </a:defRPr>
            </a:pPr>
            <a:r>
              <a:t>Precision</a:t>
            </a:r>
          </a:p>
          <a:p>
            <a:pPr algn="ctr">
              <a:defRPr sz="1100" b="1">
                <a:solidFill>
                  <a:srgbClr val="1B365D"/>
                </a:solidFill>
              </a:defRPr>
            </a:pPr>
            <a:r>
              <a:t>Core Focus Metric</a:t>
            </a:r>
          </a:p>
          <a:p>
            <a:pPr algn="ctr">
              <a:defRPr sz="900">
                <a:solidFill>
                  <a:srgbClr val="6C757D"/>
                </a:solidFill>
              </a:defRPr>
            </a:pPr>
            <a:r>
              <a:t>False Positive 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17520"/>
            <a:ext cx="10728655" cy="3108960"/>
          </a:xfrm>
          <a:prstGeom prst="roundRect">
            <a:avLst/>
          </a:prstGeom>
          <a:solidFill>
            <a:srgbClr val="F1F3F5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154680"/>
            <a:ext cx="101800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365D"/>
                </a:solidFill>
              </a:defRPr>
            </a:pPr>
            <a:r>
              <a:t>End-to-End Technical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661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090"/>
                </a:solidFill>
              </a:defRPr>
            </a:pPr>
            <a:r>
              <a:t>1. Data Cleaning: </a:t>
            </a:r>
            <a:r>
              <a:rPr sz="1100" b="0">
                <a:solidFill>
                  <a:srgbClr val="212529"/>
                </a:solidFill>
              </a:rPr>
              <a:t>Handling missing values, outlier detection &amp; standardizing column formatting.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605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090"/>
                </a:solidFill>
              </a:defRPr>
            </a:pPr>
            <a:r>
              <a:t>2. Feature Engineering: </a:t>
            </a:r>
            <a:r>
              <a:rPr sz="1100" b="0">
                <a:solidFill>
                  <a:srgbClr val="212529"/>
                </a:solidFill>
              </a:rPr>
              <a:t>Creating domain interaction terms (e.g. Education × Hours/Week).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548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090"/>
                </a:solidFill>
              </a:defRPr>
            </a:pPr>
            <a:r>
              <a:t>3. Preprocessing Pipeline: </a:t>
            </a:r>
            <a:r>
              <a:rPr sz="1100" b="0">
                <a:solidFill>
                  <a:srgbClr val="212529"/>
                </a:solidFill>
              </a:rPr>
              <a:t>One-hot encoding categoricals &amp; standard scaling numerical features.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090"/>
                </a:solidFill>
              </a:defRPr>
            </a:pPr>
            <a:r>
              <a:t>4. Ensemble Comparison: </a:t>
            </a:r>
            <a:r>
              <a:rPr sz="1100" b="0">
                <a:solidFill>
                  <a:srgbClr val="212529"/>
                </a:solidFill>
              </a:rPr>
              <a:t>Evaluating Random Forest, HistGradientBoosting, and Stacking ensembles.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9" y="35661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090"/>
                </a:solidFill>
              </a:defRPr>
            </a:pPr>
            <a:r>
              <a:t>5. Class Imbalance Handling: </a:t>
            </a:r>
            <a:r>
              <a:rPr sz="1100" b="0">
                <a:solidFill>
                  <a:srgbClr val="212529"/>
                </a:solidFill>
              </a:rPr>
              <a:t>Optimizing decision thresholds &amp; class-weight calibrations.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9" y="41605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090"/>
                </a:solidFill>
              </a:defRPr>
            </a:pPr>
            <a:r>
              <a:t>6. Model Interpretation: </a:t>
            </a:r>
            <a:r>
              <a:rPr sz="1100" b="0">
                <a:solidFill>
                  <a:srgbClr val="212529"/>
                </a:solidFill>
              </a:rPr>
              <a:t>Applying SHAP values for global &amp; local feature explainability.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79" y="47548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090"/>
                </a:solidFill>
              </a:defRPr>
            </a:pPr>
            <a:r>
              <a:t>7. Fairness Evaluation: </a:t>
            </a:r>
            <a:r>
              <a:rPr sz="1100" b="0">
                <a:solidFill>
                  <a:srgbClr val="212529"/>
                </a:solidFill>
              </a:rPr>
              <a:t>Auditing model performance across demographic subgroups (Sex, Race).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79" y="5349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090"/>
                </a:solidFill>
              </a:defRPr>
            </a:pPr>
            <a:r>
              <a:t>8. Deployment Pipeline: </a:t>
            </a:r>
            <a:r>
              <a:rPr sz="1100" b="0">
                <a:solidFill>
                  <a:srgbClr val="212529"/>
                </a:solidFill>
              </a:rPr>
              <a:t>Packaging reproducible end-to-end inference pipeline as .joblib artifact.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Arial"/>
              </a:defRPr>
            </a:pPr>
            <a:r>
              <a:t>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Arial"/>
              </a:defRPr>
            </a:pPr>
            <a:r>
              <a:t>Ensemble Model Comparison &amp; Final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Comparing candidate architectures to select the optimal model for business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Adult Census Income Prediction | Capstone Presentation</a:t>
            </a:r>
          </a:p>
          <a:p>
            <a:pPr algn="r">
              <a:defRPr sz="900">
                <a:solidFill>
                  <a:srgbClr val="6C757D"/>
                </a:solidFill>
                <a:latin typeface="Calibri"/>
              </a:defRPr>
            </a:pPr>
            <a:r>
              <a:t>Slide 4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365D"/>
                </a:solidFill>
              </a:defRPr>
            </a:pPr>
            <a:r>
              <a:t>Candidate Models Performance Comparison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103120"/>
          <a:ext cx="6217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1280160"/>
                <a:gridCol w="1280160"/>
              </a:tblGrid>
              <a:tr h="5715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ROC AUC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0.8168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0.5205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0.9115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B365D"/>
                          </a:solidFill>
                        </a:defRPr>
                      </a:pPr>
                      <a:r>
                        <a:t>HistGradientBoosting ⭐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0.9875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0.2357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0.8929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Stacking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0.7795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0.5714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0.9120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223760" y="1645920"/>
            <a:ext cx="4236415" cy="4480560"/>
          </a:xfrm>
          <a:prstGeom prst="roundRect">
            <a:avLst/>
          </a:prstGeom>
          <a:solidFill>
            <a:srgbClr val="F1F3F5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387065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C757D"/>
                </a:solidFill>
              </a:defRPr>
            </a:pPr>
            <a:r>
              <a:rPr sz="1200" dirty="0"/>
              <a:t>Selected Final Model:</a:t>
            </a:r>
          </a:p>
          <a:p>
            <a:pPr>
              <a:defRPr sz="2200" b="1">
                <a:solidFill>
                  <a:srgbClr val="059669"/>
                </a:solidFill>
              </a:defRPr>
            </a:pPr>
            <a:r>
              <a:rPr sz="2000" dirty="0"/>
              <a:t>HistGradientBoosting</a:t>
            </a:r>
          </a:p>
          <a:p>
            <a:r>
              <a:rPr sz="1600" dirty="0"/>
              <a:t/>
            </a:r>
            <a:br>
              <a:rPr sz="1600" dirty="0"/>
            </a:br>
            <a:r>
              <a:rPr sz="1600" dirty="0"/>
              <a:t>✔ Highest Precision (98.75%): </a:t>
            </a:r>
            <a:r>
              <a:rPr sz="1600" b="0" dirty="0">
                <a:solidFill>
                  <a:srgbClr val="212529"/>
                </a:solidFill>
              </a:rPr>
              <a:t>Outperforms all other candidate architectures in eliminating false positive high-income predictions.</a:t>
            </a:r>
          </a:p>
          <a:p>
            <a:r>
              <a:rPr sz="1600" dirty="0"/>
              <a:t/>
            </a:r>
            <a:br>
              <a:rPr sz="1600" dirty="0"/>
            </a:br>
            <a:r>
              <a:rPr sz="1600" dirty="0"/>
              <a:t>✔ Strict Business Alignment: </a:t>
            </a:r>
            <a:r>
              <a:rPr sz="1600" b="0" dirty="0">
                <a:solidFill>
                  <a:srgbClr val="212529"/>
                </a:solidFill>
              </a:rPr>
              <a:t>Best aligns with commercial goals where misclassifying low-income individuals directly wastes marketing budget.</a:t>
            </a:r>
          </a:p>
          <a:p>
            <a:r>
              <a:rPr sz="1600" dirty="0"/>
              <a:t/>
            </a:r>
            <a:br>
              <a:rPr sz="1600" dirty="0"/>
            </a:br>
            <a:r>
              <a:rPr sz="1600" dirty="0"/>
              <a:t>✔ Production Readiness: </a:t>
            </a:r>
            <a:r>
              <a:rPr sz="1600" b="0" dirty="0">
                <a:solidFill>
                  <a:srgbClr val="212529"/>
                </a:solidFill>
              </a:rPr>
              <a:t>Fast inference execution, native missing value handling, and light memory footprint for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Arial"/>
              </a:defRPr>
            </a:pPr>
            <a:r>
              <a:t>RESULTS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Arial"/>
              </a:defRPr>
            </a:pPr>
            <a:r>
              <a:t>Final Model Performance &amp; Threshold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Evaluating hold-out test results and probability decision threshold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Adult Census Income Prediction | Capstone Presentation</a:t>
            </a:r>
          </a:p>
          <a:p>
            <a:pPr algn="r">
              <a:defRPr sz="900">
                <a:solidFill>
                  <a:srgbClr val="6C757D"/>
                </a:solidFill>
                <a:latin typeface="Calibri"/>
              </a:defRPr>
            </a:pPr>
            <a:r>
              <a:t>Slide 5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365D"/>
                </a:solidFill>
              </a:defRPr>
            </a:pPr>
            <a:r>
              <a:t>Hold-Out Test Results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103120"/>
          <a:ext cx="51206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9456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Performance Metric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Test Value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81.64%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Precision ⭐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98.75%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23.57%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F1 Score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38.05%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ROC 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89.29%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PR AUC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74.97%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48095" y="1645920"/>
            <a:ext cx="5212080" cy="4297680"/>
          </a:xfrm>
          <a:prstGeom prst="roundRect">
            <a:avLst/>
          </a:prstGeom>
          <a:solidFill>
            <a:srgbClr val="F1F3F5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22415" y="1828800"/>
            <a:ext cx="466344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</a:defRPr>
            </a:pPr>
            <a:r>
              <a:rPr sz="1600" dirty="0"/>
              <a:t>Decision Threshold Optimization</a:t>
            </a:r>
          </a:p>
          <a:p>
            <a:endParaRPr sz="1600" dirty="0"/>
          </a:p>
          <a:p>
            <a:pPr>
              <a:defRPr sz="1400" b="1">
                <a:solidFill>
                  <a:srgbClr val="6C757D"/>
                </a:solidFill>
              </a:defRPr>
            </a:pPr>
            <a:r>
              <a:rPr sz="1200" dirty="0"/>
              <a:t>• Default Threshold: 0.50</a:t>
            </a:r>
          </a:p>
          <a:p>
            <a:pPr>
              <a:defRPr sz="1600" b="1">
                <a:solidFill>
                  <a:srgbClr val="028090"/>
                </a:solidFill>
              </a:defRPr>
            </a:pPr>
            <a:r>
              <a:rPr sz="1400" dirty="0"/>
              <a:t>• Selected Threshold: 0.70</a:t>
            </a:r>
          </a:p>
          <a:p>
            <a:r>
              <a:rPr sz="1600" dirty="0"/>
              <a:t/>
            </a:r>
            <a:br>
              <a:rPr sz="1600" dirty="0"/>
            </a:br>
            <a:r>
              <a:rPr sz="1600" dirty="0"/>
              <a:t>✔ Trade-off Rationale: Raising the probability decision threshold from 0.50 to 0.70 selectively isolates high-confidence predictions.</a:t>
            </a:r>
          </a:p>
          <a:p>
            <a:r>
              <a:rPr sz="1600" dirty="0"/>
              <a:t/>
            </a:r>
            <a:br>
              <a:rPr sz="1600" dirty="0"/>
            </a:br>
            <a:r>
              <a:rPr sz="1600" dirty="0"/>
              <a:t>✔ Precision Elevation: Increases precision to 98.75%, effectively removing borderline uncertain classifications.</a:t>
            </a:r>
          </a:p>
          <a:p>
            <a:r>
              <a:rPr sz="1600" dirty="0"/>
              <a:t/>
            </a:r>
            <a:br>
              <a:rPr sz="1600" dirty="0"/>
            </a:br>
            <a:r>
              <a:rPr sz="1600" dirty="0"/>
              <a:t>✔ Business Impact: Directly guarantees high ROI by ensuring marketing/financial offers are only sent to verified high-income candidates.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648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Arial"/>
              </a:defRPr>
            </a:pPr>
            <a:r>
              <a:t>MODEL 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Arial"/>
              </a:defRPr>
            </a:pPr>
            <a:r>
              <a:t>Explainable AI (SHAP) &amp; Feature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Understanding key feature impacts and decision transparency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Adult Census Income Prediction | Capstone Presentation</a:t>
            </a:r>
          </a:p>
          <a:p>
            <a:pPr algn="r">
              <a:defRPr sz="900">
                <a:solidFill>
                  <a:srgbClr val="6C757D"/>
                </a:solidFill>
                <a:latin typeface="Calibri"/>
              </a:defRPr>
            </a:pPr>
            <a:r>
              <a:t>Slide 6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1F3F5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6634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</a:defRPr>
            </a:pPr>
            <a:r>
              <a:rPr dirty="0"/>
              <a:t>Top Driving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smtClean="0"/>
              <a:t>Capital </a:t>
            </a:r>
            <a:r>
              <a:rPr dirty="0"/>
              <a:t>Gain: </a:t>
            </a:r>
            <a:r>
              <a:rPr b="0" dirty="0">
                <a:solidFill>
                  <a:srgbClr val="212529"/>
                </a:solidFill>
              </a:rPr>
              <a:t>Single strongest predictor of earning &gt;$50K</a:t>
            </a:r>
            <a:r>
              <a:rPr b="0" dirty="0" smtClean="0">
                <a:solidFill>
                  <a:srgbClr val="212529"/>
                </a:solidFill>
              </a:rPr>
              <a:t>.</a:t>
            </a:r>
            <a:endParaRPr lang="en-US" b="0" dirty="0" smtClean="0">
              <a:solidFill>
                <a:srgbClr val="21252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/>
            </a:r>
            <a:br>
              <a:rPr dirty="0"/>
            </a:br>
            <a:r>
              <a:rPr dirty="0" smtClean="0"/>
              <a:t>Married-</a:t>
            </a:r>
            <a:r>
              <a:rPr dirty="0" err="1" smtClean="0"/>
              <a:t>Civ</a:t>
            </a:r>
            <a:r>
              <a:rPr dirty="0" smtClean="0"/>
              <a:t>-Spouse</a:t>
            </a:r>
            <a:r>
              <a:rPr dirty="0"/>
              <a:t>: </a:t>
            </a:r>
            <a:r>
              <a:rPr b="0" dirty="0">
                <a:solidFill>
                  <a:srgbClr val="212529"/>
                </a:solidFill>
              </a:rPr>
              <a:t>Key demographic proxy for household stability &amp; income.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/>
            </a:r>
            <a:br>
              <a:rPr dirty="0"/>
            </a:br>
            <a:r>
              <a:rPr dirty="0" smtClean="0"/>
              <a:t>Education </a:t>
            </a:r>
            <a:r>
              <a:rPr dirty="0"/>
              <a:t>Level: </a:t>
            </a:r>
            <a:r>
              <a:rPr b="0" dirty="0">
                <a:solidFill>
                  <a:srgbClr val="212529"/>
                </a:solidFill>
              </a:rPr>
              <a:t>Direct positive relationship with earning capacity.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/>
            </a:r>
            <a:br>
              <a:rPr dirty="0"/>
            </a:br>
            <a:r>
              <a:rPr dirty="0" smtClean="0"/>
              <a:t> </a:t>
            </a:r>
            <a:r>
              <a:rPr dirty="0"/>
              <a:t>Education × Hours/Week: </a:t>
            </a:r>
            <a:r>
              <a:rPr b="0" dirty="0">
                <a:solidFill>
                  <a:srgbClr val="212529"/>
                </a:solidFill>
              </a:rPr>
              <a:t>Engineered interaction capturing high-value effort.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smtClean="0"/>
              <a:t> </a:t>
            </a:r>
            <a:r>
              <a:rPr dirty="0"/>
              <a:t>Capital Loss: </a:t>
            </a:r>
            <a:r>
              <a:rPr b="0" dirty="0">
                <a:solidFill>
                  <a:srgbClr val="212529"/>
                </a:solidFill>
              </a:rPr>
              <a:t>Additional strong financial indicator of wealth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45920"/>
            <a:ext cx="5212080" cy="4480560"/>
          </a:xfrm>
          <a:prstGeom prst="roundRect">
            <a:avLst/>
          </a:prstGeom>
          <a:solidFill>
            <a:srgbClr val="F1F3F5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22415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</a:defRPr>
            </a:pPr>
            <a:r>
              <a:rPr dirty="0"/>
              <a:t>SHAP Insights &amp; Business Value</a:t>
            </a:r>
          </a:p>
          <a:p>
            <a:r>
              <a:rPr dirty="0"/>
              <a:t/>
            </a:r>
            <a:br>
              <a:rPr dirty="0"/>
            </a:br>
            <a:r>
              <a:rPr dirty="0"/>
              <a:t>• Capital Gain Dominance: </a:t>
            </a:r>
            <a:r>
              <a:rPr b="0" dirty="0">
                <a:solidFill>
                  <a:srgbClr val="212529"/>
                </a:solidFill>
              </a:rPr>
              <a:t>Individuals with significant capital gains almost universally push predictions past the 0.70 probability threshold.</a:t>
            </a:r>
          </a:p>
          <a:p>
            <a:r>
              <a:rPr dirty="0"/>
              <a:t/>
            </a:r>
            <a:br>
              <a:rPr dirty="0"/>
            </a:br>
            <a:r>
              <a:rPr dirty="0"/>
              <a:t>• Marital Status &amp; Education Synergy: </a:t>
            </a:r>
            <a:r>
              <a:rPr b="0" dirty="0">
                <a:solidFill>
                  <a:srgbClr val="212529"/>
                </a:solidFill>
              </a:rPr>
              <a:t>Married individuals with higher education degrees exhibit strong positive SHAP values toward &gt;$50K income.</a:t>
            </a:r>
          </a:p>
          <a:p>
            <a:r>
              <a:rPr dirty="0"/>
              <a:t/>
            </a:r>
            <a:br>
              <a:rPr dirty="0"/>
            </a:br>
            <a:r>
              <a:rPr dirty="0"/>
              <a:t>• Stakeholder Transparency: </a:t>
            </a:r>
            <a:r>
              <a:rPr b="0" dirty="0">
                <a:solidFill>
                  <a:srgbClr val="212529"/>
                </a:solidFill>
              </a:rPr>
              <a:t>SHAP breakdown provides clear, interpretable, and compliance-friendly explanations for business stakeholders and auditors.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Arial"/>
              </a:defRPr>
            </a:pPr>
            <a:r>
              <a:t>GOVERNANCE &amp;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Arial"/>
              </a:defRPr>
            </a:pPr>
            <a:r>
              <a:t>Fairness Audit &amp; Production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Ensuring demographic equity and modular production pipeline packaging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Adult Census Income Prediction | Capstone Presentation</a:t>
            </a:r>
          </a:p>
          <a:p>
            <a:pPr algn="r">
              <a:defRPr sz="900">
                <a:solidFill>
                  <a:srgbClr val="6C757D"/>
                </a:solidFill>
                <a:latin typeface="Calibri"/>
              </a:defRPr>
            </a:pPr>
            <a:r>
              <a:t>Slide 7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1F3F5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</a:defRPr>
            </a:pPr>
            <a:r>
              <a:t>Demographic Fairness Audit</a:t>
            </a:r>
          </a:p>
          <a:p>
            <a:r>
              <a:t/>
            </a:r>
            <a:br/>
            <a:r>
              <a:t>Precision by Sex: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   • Female: 98.96%  |  Male: 98.70%</a:t>
            </a:r>
          </a:p>
          <a:p>
            <a:r>
              <a:t/>
            </a:r>
            <a:br/>
            <a:r>
              <a:t>Precision by Race: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   • White: 98.80%</a:t>
            </a:r>
            <a:br/>
            <a:r>
              <a:t>   • Black: 100.00%</a:t>
            </a:r>
            <a:br/>
            <a:r>
              <a:t>   • Asian-Pacific Islander: 94.12%</a:t>
            </a:r>
          </a:p>
          <a:p>
            <a:r>
              <a:t/>
            </a:r>
            <a:br/>
            <a:r>
              <a:t>✔ Audit Conclusion: No major fairness or parity concerns were observed across demographic subgroups when evaluating precision.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45920"/>
            <a:ext cx="5212080" cy="4480560"/>
          </a:xfrm>
          <a:prstGeom prst="roundRect">
            <a:avLst/>
          </a:prstGeom>
          <a:solidFill>
            <a:srgbClr val="F1F3F5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22415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</a:defRPr>
            </a:pPr>
            <a:r>
              <a:t>Production Deployment Pipeline</a:t>
            </a:r>
          </a:p>
          <a:p>
            <a:r>
              <a:t/>
            </a:r>
            <a:br/>
            <a:r>
              <a:t>The packaged pipeline includes: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Feature Engineering &amp; Custom Transformers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Column Transformer Preprocessing &amp; Scaling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HistGradientBoosting Classifier (Threshold = 0.70)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SHAP Explanation Generator for Real-Time Inference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Input Validation &amp; Unseen Category Fallback Handling</a:t>
            </a:r>
          </a:p>
          <a:p>
            <a:r>
              <a:t/>
            </a:r>
            <a:br/>
            <a:r>
              <a:t>Saved Model Artifact:</a:t>
            </a:r>
          </a:p>
          <a:p>
            <a:pPr>
              <a:defRPr sz="1300" b="1">
                <a:solidFill>
                  <a:srgbClr val="1B365D"/>
                </a:solidFill>
              </a:defRPr>
            </a:pPr>
            <a:r>
              <a:t>final_income_prediction_model.joblib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Arial"/>
              </a:defRPr>
            </a:pPr>
            <a:r>
              <a:t>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Arial"/>
              </a:defRPr>
            </a:pPr>
            <a:r>
              <a:t>Recommendations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Key outcomes achieved and operational roadmap for production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Calibri"/>
              </a:defRPr>
            </a:pPr>
            <a:r>
              <a:t>Adult Census Income Prediction | Capstone Presentation</a:t>
            </a:r>
          </a:p>
          <a:p>
            <a:pPr algn="r">
              <a:defRPr sz="900">
                <a:solidFill>
                  <a:srgbClr val="6C757D"/>
                </a:solidFill>
                <a:latin typeface="Calibri"/>
              </a:defRPr>
            </a:pPr>
            <a:r>
              <a:t>Slide 8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1F3F5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6634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</a:defRPr>
            </a:pPr>
            <a:r>
              <a:rPr sz="1600" dirty="0"/>
              <a:t>Key Project Outcomes</a:t>
            </a:r>
          </a:p>
          <a:p>
            <a:r>
              <a:rPr sz="1600" dirty="0"/>
              <a:t/>
            </a:r>
            <a:br>
              <a:rPr sz="1600" dirty="0"/>
            </a:br>
            <a:r>
              <a:rPr sz="1600" dirty="0"/>
              <a:t>✔ End-to-End Pipeline: Successfully built a fully automated, reproducible ML architecture.</a:t>
            </a:r>
          </a:p>
          <a:p>
            <a:r>
              <a:rPr sz="1600" dirty="0"/>
              <a:t/>
            </a:r>
            <a:br>
              <a:rPr sz="1600" dirty="0"/>
            </a:br>
            <a:r>
              <a:rPr sz="1600" dirty="0"/>
              <a:t>✔ High Precision Achieved: 98.75% Precision on unseen test data at 0.70 threshold.</a:t>
            </a:r>
          </a:p>
          <a:p>
            <a:r>
              <a:rPr sz="1600" dirty="0"/>
              <a:t/>
            </a:r>
            <a:br>
              <a:rPr sz="1600" dirty="0"/>
            </a:br>
            <a:r>
              <a:rPr sz="1600" dirty="0"/>
              <a:t>✔ Full </a:t>
            </a:r>
            <a:r>
              <a:rPr sz="1600" dirty="0" err="1"/>
              <a:t>Explainability</a:t>
            </a:r>
            <a:r>
              <a:rPr sz="1600" dirty="0"/>
              <a:t>: Integrated SHAP interpretability for complete model transparency.</a:t>
            </a:r>
          </a:p>
          <a:p>
            <a:r>
              <a:rPr sz="1600" dirty="0"/>
              <a:t/>
            </a:r>
            <a:br>
              <a:rPr sz="1600" dirty="0"/>
            </a:br>
            <a:r>
              <a:rPr sz="1600" dirty="0"/>
              <a:t>✔ Fairness Verified: Audited and confirmed consistent precision across Sex and Race subgroups</a:t>
            </a:r>
            <a:r>
              <a:rPr sz="1600" dirty="0" smtClean="0"/>
              <a:t>.</a:t>
            </a:r>
            <a:endParaRPr lang="en-US" sz="1600" dirty="0" smtClean="0"/>
          </a:p>
          <a:p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✔ Production Package: Fully serialized .</a:t>
            </a:r>
            <a:r>
              <a:rPr lang="en-US" sz="1600" dirty="0" err="1"/>
              <a:t>joblib</a:t>
            </a:r>
            <a:r>
              <a:rPr lang="en-US" sz="1600" dirty="0"/>
              <a:t> pipeline ready for system integration.</a:t>
            </a:r>
          </a:p>
          <a:p>
            <a:endParaRPr sz="1600" dirty="0"/>
          </a:p>
        </p:txBody>
      </p:sp>
      <p:sp>
        <p:nvSpPr>
          <p:cNvPr id="9" name="Rounded Rectangle 8"/>
          <p:cNvSpPr/>
          <p:nvPr/>
        </p:nvSpPr>
        <p:spPr>
          <a:xfrm>
            <a:off x="6217920" y="1531279"/>
            <a:ext cx="5212080" cy="4480560"/>
          </a:xfrm>
          <a:prstGeom prst="roundRect">
            <a:avLst/>
          </a:prstGeom>
          <a:solidFill>
            <a:srgbClr val="F1F3F5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22415" y="2042666"/>
            <a:ext cx="46634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65D"/>
                </a:solidFill>
              </a:defRPr>
            </a:pPr>
            <a:r>
              <a:rPr sz="1600" dirty="0"/>
              <a:t>Recommended Next Steps</a:t>
            </a:r>
          </a:p>
          <a:p>
            <a:r>
              <a:rPr sz="1600" dirty="0"/>
              <a:t/>
            </a:r>
            <a:br>
              <a:rPr sz="1600" dirty="0"/>
            </a:br>
            <a:r>
              <a:rPr sz="1600" dirty="0"/>
              <a:t>• 1. A/B Testing Pilot: </a:t>
            </a:r>
            <a:r>
              <a:rPr sz="1600" b="0" dirty="0">
                <a:solidFill>
                  <a:srgbClr val="212529"/>
                </a:solidFill>
              </a:rPr>
              <a:t>Conduct a controlled A/B test in marketing/recommendations before full rollout.</a:t>
            </a:r>
          </a:p>
          <a:p>
            <a:r>
              <a:rPr sz="1600" dirty="0"/>
              <a:t/>
            </a:r>
            <a:br>
              <a:rPr sz="1600" dirty="0"/>
            </a:br>
            <a:r>
              <a:rPr sz="1600" dirty="0"/>
              <a:t>• 2. Real-Time Telemetry: </a:t>
            </a:r>
            <a:r>
              <a:rPr sz="1600" b="0" dirty="0">
                <a:solidFill>
                  <a:srgbClr val="212529"/>
                </a:solidFill>
              </a:rPr>
              <a:t>Monitor Precision, Recall, Data Drift, Prediction Distribution, Fairness, and Inference Latency.</a:t>
            </a:r>
          </a:p>
          <a:p>
            <a:r>
              <a:rPr sz="1600" dirty="0"/>
              <a:t/>
            </a:r>
            <a:br>
              <a:rPr sz="1600" dirty="0"/>
            </a:br>
            <a:r>
              <a:rPr sz="1600" dirty="0"/>
              <a:t>• 3. Automated Retraining: </a:t>
            </a:r>
            <a:r>
              <a:rPr sz="1600" b="0" dirty="0">
                <a:solidFill>
                  <a:srgbClr val="212529"/>
                </a:solidFill>
              </a:rPr>
              <a:t>Trigger model retraining protocols when performance degrades or significant data drift is flagged.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19" y="2689974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rPr dirty="0"/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  <a:latin typeface="Calibri"/>
              </a:defRPr>
            </a:pPr>
            <a:r>
              <a:rPr dirty="0"/>
              <a:t>Adult Census Income Prediction | Machine Learning Capstone Project</a:t>
            </a:r>
            <a:br>
              <a:rPr dirty="0"/>
            </a:br>
            <a:r>
              <a:rPr dirty="0"/>
              <a:t>Presented by: </a:t>
            </a:r>
            <a:r>
              <a:rPr dirty="0" err="1"/>
              <a:t>Saira</a:t>
            </a:r>
            <a:r>
              <a:rPr dirty="0"/>
              <a:t> Fatima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511</Words>
  <Application>Microsoft Office PowerPoint</Application>
  <PresentationFormat>Widescreen</PresentationFormat>
  <Paragraphs>153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Star</dc:creator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2026-08-07T13:18:26Z</dcterms:modified>
  <cp:category/>
</cp:coreProperties>
</file>